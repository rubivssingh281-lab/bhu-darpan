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28016"/>
            <a:ext cx="11862511" cy="6601968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926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mbria"/>
              </a:rPr>
              <a:t>BHŪ-DARPAN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29260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CLIMATE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"/>
            <a:ext cx="667512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Cambria"/>
              </a:rPr>
              <a:t>AI-POWERED CLIMATE DIGITAL TWIN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078992"/>
            <a:ext cx="2651760" cy="0"/>
          </a:xfrm>
          <a:prstGeom prst="line">
            <a:avLst/>
          </a:prstGeom>
          <a:ln w="203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95560" y="292608"/>
            <a:ext cx="1600200" cy="603504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6002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SIH 2026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55555"/>
                </a:solidFill>
                <a:latin typeface="Calibri"/>
              </a:rPr>
              <a:t>Smart India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3383280" cy="50292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320040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8"/>
            <a:ext cx="32004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PROBLEM 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306324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India's climate data is siloed across IMD, INSAT/MOSDAC &amp; reanalysis — hard to fuse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Conventional models are coarse, slow and not near-real-time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 indigenous twin for local monitoring + forecasting + what-if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11880"/>
            <a:ext cx="320040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30168"/>
            <a:ext cx="32004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3063240" cy="21031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AI-driven digital twin for the J&amp;K pilot (rainfall + temperature)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Multi-source fusion + deep-learning forecast + data assimilation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250" b="0" i="0">
                <a:solidFill>
                  <a:srgbClr val="1A1A1A"/>
                </a:solidFill>
                <a:latin typeface="Calibri"/>
              </a:rPr>
              <a:t>Interactive dashboard, what-if simulator &amp; satellite scene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69080" y="1325880"/>
            <a:ext cx="4069080" cy="50292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60520" y="1417320"/>
            <a:ext cx="388620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1435608"/>
            <a:ext cx="3886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847088"/>
            <a:ext cx="38862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mbria"/>
              </a:rPr>
              <a:t>Comparison of Approach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206240" y="2194560"/>
          <a:ext cx="37947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325880"/>
                <a:gridCol w="13258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Conventional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Bhū-Darpan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Forecast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Physics, coarse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AI LSTM (gated)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Single source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Multi-source fusion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Update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Batch / slow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Near-real-time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Uncertainty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Assimilation spread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 marL="50800" marR="25400" marT="12700" marB="127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Expert tools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Web + offline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4160520" y="4572000"/>
            <a:ext cx="388620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4590288"/>
            <a:ext cx="3886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WHY IT'S DIFFERENT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074920"/>
            <a:ext cx="3611880" cy="11887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1A1A1A"/>
                </a:solidFill>
                <a:latin typeface="Cambria"/>
              </a:rPr>
              <a:t>“AI + data assimilation in a living, skill-validated twin — not a single model's raw output.”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325880"/>
            <a:ext cx="3337560" cy="50292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1417320"/>
            <a:ext cx="315468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435608"/>
            <a:ext cx="31546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INSTANCE OF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5632" y="1938528"/>
            <a:ext cx="3017520" cy="713232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1938528"/>
            <a:ext cx="294436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Multi-source data assimilation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2779776"/>
            <a:ext cx="3017520" cy="713232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2779776"/>
            <a:ext cx="294436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LSTM deep-learning forecast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5632" y="3621024"/>
            <a:ext cx="3017520" cy="713232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3621024"/>
            <a:ext cx="294436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Satellite LST → climate fusion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85632" y="4462272"/>
            <a:ext cx="3017520" cy="713232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4462272"/>
            <a:ext cx="294436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Interactive geospatial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85632" y="5303520"/>
            <a:ext cx="3017520" cy="713232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5303520"/>
            <a:ext cx="2944368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What-if scenario simulator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28016"/>
            <a:ext cx="11862511" cy="6601968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926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mbria"/>
              </a:rPr>
              <a:t>BHŪ-DARPAN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29260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CLIMATE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"/>
            <a:ext cx="667512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mbria"/>
              </a:rPr>
              <a:t>TECHNICAL APPROACH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078992"/>
            <a:ext cx="2651760" cy="0"/>
          </a:xfrm>
          <a:prstGeom prst="line">
            <a:avLst/>
          </a:prstGeom>
          <a:ln w="203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95560" y="292608"/>
            <a:ext cx="1600200" cy="603504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6002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SIH 2026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55555"/>
                </a:solidFill>
                <a:latin typeface="Calibri"/>
              </a:rPr>
              <a:t>Smart India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2880360" cy="21488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269748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35608"/>
            <a:ext cx="26974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TECHNOLOGY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74519"/>
            <a:ext cx="26060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FastAPI (Python 3.12)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PyTorch — LSTM + CNN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scikit-learn, NumPy, xarray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Leaflet + Chart.js, SQLite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11880"/>
            <a:ext cx="2880360" cy="21488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703320"/>
            <a:ext cx="269748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21607"/>
            <a:ext cx="269748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DATA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60520"/>
            <a:ext cx="26060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IMD gridded 0.25° / 1.0°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NASA POWER (MERRA-2), ERA5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INSAT LST (MOSDAC), EuroSAT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1325880"/>
            <a:ext cx="5074920" cy="44348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507492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CORE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1920240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1920240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Ingest &amp; Regrid (0.25°)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12664" y="1920240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1920240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Climatology &amp; Anomaly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22008" y="1920240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22008" y="1920240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Data Assimilation (Cressman/OI)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761488"/>
            <a:ext cx="50749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03320" y="3127248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127248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LSTM Forecast (skill-gated)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2664" y="3127248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12664" y="3127248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Hazards &amp; What-If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2008" y="3127248"/>
            <a:ext cx="1536192" cy="7772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8" y="3127248"/>
            <a:ext cx="1536192" cy="7772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1A1A"/>
                </a:solidFill>
                <a:latin typeface="Calibri"/>
              </a:rPr>
              <a:t>Dashboard &amp; REST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4160520"/>
            <a:ext cx="480060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mbria"/>
              </a:rPr>
              <a:t>Data assimilation fuses independent sources into one grid; the LSTM is skill-gated so a forecast is never worse than climatology, and every prediction is backtested for skill.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1325880"/>
            <a:ext cx="2834640" cy="443484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1417320"/>
            <a:ext cx="265176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1435608"/>
            <a:ext cx="265176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FINAL OUTPUT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1965960"/>
            <a:ext cx="2560320" cy="3474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Live climate state + anomalies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14-day AI forecast + skill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Satellite land-cover + change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  <a:buChar char="•"/>
            </a:pPr>
            <a:r>
              <a:rPr sz="1150" b="0" i="0">
                <a:solidFill>
                  <a:srgbClr val="1A1A1A"/>
                </a:solidFill>
                <a:latin typeface="Calibri"/>
              </a:rPr>
              <a:t>Scenario impacts + hazard alerts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897880"/>
            <a:ext cx="2743200" cy="6858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5943600"/>
            <a:ext cx="2523744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Indigenous &amp; Open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National datasets, no vendor lock-in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28415" y="5897880"/>
            <a:ext cx="2743200" cy="6858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38144" y="5943600"/>
            <a:ext cx="2523744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Runs Offline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Bundled data + local models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3912" y="5897880"/>
            <a:ext cx="2743200" cy="6858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943600"/>
            <a:ext cx="2523744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Skill-Validated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Backtested vs climatology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9408" y="5897880"/>
            <a:ext cx="2743200" cy="6858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89136" y="5943600"/>
            <a:ext cx="2523744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A1A1A"/>
                </a:solidFill>
                <a:latin typeface="Calibri"/>
              </a:rPr>
              <a:t>Near-Real-Time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55555"/>
                </a:solidFill>
                <a:latin typeface="Calibri"/>
              </a:rPr>
              <a:t>Live refresh on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28016"/>
            <a:ext cx="11862511" cy="6601968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926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mbria"/>
              </a:rPr>
              <a:t>BHŪ-DARPAN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29260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CLIMATE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"/>
            <a:ext cx="667512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mbria"/>
              </a:rPr>
              <a:t>PROTOTYPE WALKTHROUGH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078992"/>
            <a:ext cx="2651760" cy="0"/>
          </a:xfrm>
          <a:prstGeom prst="line">
            <a:avLst/>
          </a:prstGeom>
          <a:ln w="203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95560" y="292608"/>
            <a:ext cx="1600200" cy="603504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6002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SIH 2026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55555"/>
                </a:solidFill>
                <a:latin typeface="Calibri"/>
              </a:rPr>
              <a:t>Smart India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97480" cy="25146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77340" y="1691640"/>
            <a:ext cx="640080" cy="640080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7340" y="1709928"/>
            <a:ext cx="640080" cy="60350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2514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</a:rPr>
              <a:t>Overview &amp; Live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1752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Current anomalies, drought class, live data refresh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50692" y="2514600"/>
            <a:ext cx="100584" cy="32004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55848" y="1463040"/>
            <a:ext cx="2697480" cy="25146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4548" y="1691640"/>
            <a:ext cx="640080" cy="640080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4548" y="1709928"/>
            <a:ext cx="640080" cy="60350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514600"/>
            <a:ext cx="2514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</a:rPr>
              <a:t>Climate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01752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Per-cell anomaly grid, region switch (J&amp;K / India)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57900" y="2514600"/>
            <a:ext cx="100584" cy="32004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463040"/>
            <a:ext cx="2697480" cy="25146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91756" y="1691640"/>
            <a:ext cx="640080" cy="640080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91756" y="1709928"/>
            <a:ext cx="640080" cy="60350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514600"/>
            <a:ext cx="2514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</a:rPr>
              <a:t>Forecast &amp; What-If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301752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14-day LSTM forecast + scenario simulator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65108" y="2514600"/>
            <a:ext cx="100584" cy="32004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0264" y="1463040"/>
            <a:ext cx="2697480" cy="25146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98964" y="1691640"/>
            <a:ext cx="640080" cy="640080"/>
          </a:xfrm>
          <a:prstGeom prst="ellipse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8964" y="1709928"/>
            <a:ext cx="640080" cy="603504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A1A1A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2514600"/>
            <a:ext cx="25146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Cambria"/>
              </a:rPr>
              <a:t>Satellite Module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7424" y="3017520"/>
            <a:ext cx="24231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55555"/>
                </a:solidFill>
                <a:latin typeface="Calibri"/>
              </a:rPr>
              <a:t>Land-cover CNN (98%) + change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526280"/>
            <a:ext cx="11109960" cy="16002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61772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mbria"/>
              </a:rPr>
              <a:t>END-TO-END DATA FLOW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National datasets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157984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95144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40863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Ingest &amp; Regrid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721607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58768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04487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Assimilate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5285231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22392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68112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AI Forecast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848855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6016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Validate (skill)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412480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49640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Visualize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9976104" y="5422392"/>
            <a:ext cx="118872" cy="182880"/>
          </a:xfrm>
          <a:prstGeom prst="rightArrow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13264" y="5074920"/>
            <a:ext cx="1417320" cy="8686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58984" y="5074920"/>
            <a:ext cx="1325880" cy="8686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Calibri"/>
              </a:rPr>
              <a:t>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28016"/>
            <a:ext cx="11862511" cy="6601968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926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mbria"/>
              </a:rPr>
              <a:t>BHŪ-DARPAN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29260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CLIMATE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"/>
            <a:ext cx="667512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mbria"/>
              </a:rPr>
              <a:t>IMPACT AND BENEFITS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078992"/>
            <a:ext cx="2651760" cy="0"/>
          </a:xfrm>
          <a:prstGeom prst="line">
            <a:avLst/>
          </a:prstGeom>
          <a:ln w="203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95560" y="292608"/>
            <a:ext cx="1600200" cy="603504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6002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SIH 2026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55555"/>
                </a:solidFill>
                <a:latin typeface="Calibri"/>
              </a:rPr>
              <a:t>Smart India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283464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389888"/>
            <a:ext cx="28346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IMPACTS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6596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Societal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5176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Disaster, water &amp; agri resilience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0632" y="196596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212140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Scientific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65176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Skill-validated AI forecasts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96596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212140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65176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Multi-source fusion, offline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196596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212140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Economic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4344" y="265176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Low-cost, indigenous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36608" y="196596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28048" y="212140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Operational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265176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Near-real-time, scalable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703320"/>
            <a:ext cx="2834640" cy="384048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721607"/>
            <a:ext cx="283464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BENEFITS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9768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5312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mbria"/>
              </a:rPr>
              <a:t>Farmers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98348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Rainfall &amp; drought outlook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70632" y="429768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62072" y="445312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mbria"/>
              </a:rPr>
              <a:t>Disaster Agencies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498348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Hazard early-warning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92624" y="429768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84064" y="445312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mbria"/>
              </a:rPr>
              <a:t>Researchers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2" y="498348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Open, extensible twin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14616" y="429768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06056" y="445312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mbria"/>
              </a:rPr>
              <a:t>Policymakers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24344" y="498348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What-if scenario planning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36608" y="4297680"/>
            <a:ext cx="2130552" cy="141732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8048" y="4453128"/>
            <a:ext cx="194767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Cambria"/>
              </a:rPr>
              <a:t>Atmanirbhar Bharat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46336" y="4983480"/>
            <a:ext cx="1911095" cy="685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India's own data &amp;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4592" y="128016"/>
            <a:ext cx="11862511" cy="6601968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926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A1A1A"/>
                </a:solidFill>
                <a:latin typeface="Cambria"/>
              </a:rPr>
              <a:t>BHŪ-DARPAN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29260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CLIMATE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"/>
            <a:ext cx="6675120" cy="7315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A1A1A"/>
                </a:solidFill>
                <a:latin typeface="Cambria"/>
              </a:rPr>
              <a:t>RESEARCH AND REFERENCES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0" y="1078992"/>
            <a:ext cx="2651760" cy="0"/>
          </a:xfrm>
          <a:prstGeom prst="line">
            <a:avLst/>
          </a:prstGeom>
          <a:ln w="20320">
            <a:solidFill>
              <a:srgbClr val="1A1A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195560" y="292608"/>
            <a:ext cx="1600200" cy="603504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95560" y="329184"/>
            <a:ext cx="16002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1A1A"/>
                </a:solidFill>
                <a:latin typeface="Cambria"/>
              </a:rPr>
              <a:t>SIH 2026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55555"/>
                </a:solidFill>
                <a:latin typeface="Calibri"/>
              </a:rPr>
              <a:t>Smart India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5394960" cy="36576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PRIMARY INDIAN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IMD Pune — 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gridded rainfall (0.25°) &amp; temperature (1.0°)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ISRO / MOSDAC — 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INSAT 3RIMG_L2B LST · SST · rainfall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45536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Bhuvan / NICES — 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Earth-observation &amp; geospatial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NASA POWER — 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MERRA-2 daily reanalysis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939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A1A1A"/>
                </a:solidFill>
                <a:latin typeface="Calibri"/>
              </a:rPr>
              <a:t>Open-Meteo — </a:t>
            </a:r>
            <a:r>
              <a:rPr sz="1200" b="0" i="0">
                <a:solidFill>
                  <a:srgbClr val="555555"/>
                </a:solidFill>
                <a:latin typeface="Calibri"/>
              </a:rPr>
              <a:t>ERA5 reanalysis (fusion source)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371600"/>
            <a:ext cx="5532120" cy="196596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81328"/>
            <a:ext cx="52120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AI / ML 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38528"/>
            <a:ext cx="51206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LSTM sequence forecaster (PyTorch) — temperature, skill-gated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EuroSAT-trained CNN — land cover, 95.9% accuracy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Cressman / optimal-interpolation data assimilation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SPI drought, heatwave &amp; monsoon-onset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474720"/>
            <a:ext cx="5532120" cy="155448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584448"/>
            <a:ext cx="52120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Cambria"/>
              </a:rPr>
              <a:t>RESEARCH &amp;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0416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Pai et al. — IMD high-resolution gridded datasets</a:t>
            </a:r>
          </a:p>
          <a:p>
            <a:pPr algn="l" marL="160020" indent="-160020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 i="0">
                <a:solidFill>
                  <a:srgbClr val="1A1A1A"/>
                </a:solidFill>
                <a:latin typeface="Calibri"/>
              </a:rPr>
              <a:t>Destination Earth (DestinE) — climate digital twins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257800"/>
            <a:ext cx="11155680" cy="64008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285232"/>
            <a:ext cx="11155680" cy="58521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1">
                <a:solidFill>
                  <a:srgbClr val="1A1A1A"/>
                </a:solidFill>
                <a:latin typeface="Cambria"/>
              </a:rPr>
              <a:t>“Observe · Predict · Simulate — India's Climate, Mirrored”   —  Bhū-Darpan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55555"/>
                </a:solidFill>
                <a:latin typeface="Calibri"/>
              </a:rPr>
              <a:t>Team Bhū-Darpan — ABES Institute of Technology, Ghaziabad  · 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